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tdd5.md</a:t>
            </a:r>
          </a:p>
          <a:p/>
          <a:p>
            <a:r>
              <a:t>TDD Talk</a:t>
            </a:r>
          </a:p>
          <a:p>
            <a:r>
              <a:t>2026-10-28</a:t>
            </a:r>
          </a:p>
          <a:p>
            <a:r>
              <a:t>Costin Grigore</a:t>
            </a:r>
          </a:p>
          <a:p>
            <a:r>
              <a:t>DB Engineering Coach</a:t>
            </a:r>
          </a:p>
          <a:p/>
          <a:p>
            <a:r>
              <a:t>+++</a:t>
            </a:r>
          </a:p>
          <a:p/>
          <a:p>
            <a:r>
              <a:t>Test Infected 2001 through XP.</a:t>
            </a:r>
          </a:p>
          <a:p>
            <a:r>
              <a:t>Test Infected = I need tests to clarify when is done: the bug, the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tdd5.md</a:t>
            </a:r>
          </a:p>
          <a:p/>
          <a:p>
            <a:r>
              <a:t>1. What is TDD? RED &gt; GREEN &gt; REFACTOR cycle</a:t>
            </a:r>
          </a:p>
          <a:p>
            <a:r>
              <a:t>2. TDD in the Agentic Era</a:t>
            </a:r>
          </a:p>
          <a:p>
            <a:r>
              <a:t>3. TDD The Good, the Bad and the Ugly</a:t>
            </a:r>
          </a:p>
          <a:p>
            <a:r>
              <a:t>4. Beyond TDD</a:t>
            </a:r>
          </a:p>
          <a:p>
            <a:r>
              <a:t>5. Complementing Practices</a:t>
            </a:r>
          </a:p>
          <a:p>
            <a:r>
              <a:t>6. Questions, experiences, next sessions</a:t>
            </a:r>
          </a:p>
          <a:p>
            <a:r>
              <a:t>7. Resources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tdd5.md</a:t>
            </a:r>
          </a:p>
          <a:p/>
          <a:p>
            <a:r>
              <a:t>- Code -&gt; Tests</a:t>
            </a:r>
          </a:p>
          <a:p>
            <a:r>
              <a:t>  - scafolding to help out</a:t>
            </a:r>
          </a:p>
          <a:p>
            <a:r>
              <a:t>  - quality</a:t>
            </a:r>
          </a:p>
          <a:p>
            <a:r>
              <a:t>  - acceptance</a:t>
            </a:r>
          </a:p>
          <a:p>
            <a:r>
              <a:t>  - post change tests</a:t>
            </a:r>
          </a:p>
          <a:p>
            <a:r>
              <a:t>- There are many ways to pair code with tests</a:t>
            </a:r>
          </a:p>
          <a:p/>
          <a:p>
            <a:r>
              <a:t>+++</a:t>
            </a:r>
          </a:p>
          <a:p/>
          <a:p>
            <a:r>
              <a:t>- Human</a:t>
            </a:r>
          </a:p>
          <a:p>
            <a:r>
              <a:t>  - Code</a:t>
            </a:r>
          </a:p>
          <a:p>
            <a:r>
              <a:t>    - On every change we throw away past manual testing.</a:t>
            </a:r>
          </a:p>
          <a:p>
            <a:r>
              <a:t>  - Tests</a:t>
            </a:r>
          </a:p>
          <a:p>
            <a:r>
              <a:t>    - Fragile.</a:t>
            </a:r>
          </a:p>
          <a:p>
            <a:r>
              <a:t>    - Tests are tightly coupled to the implementation.</a:t>
            </a:r>
          </a:p>
          <a:p>
            <a:r>
              <a:t>    - Too many.</a:t>
            </a:r>
          </a:p>
          <a:p>
            <a:r>
              <a:t>    - Coverage. Proper coverage?</a:t>
            </a:r>
          </a:p>
          <a:p>
            <a:r>
              <a:t>    - Tedious.</a:t>
            </a:r>
          </a:p>
          <a:p>
            <a:r>
              <a:t>    - Copy-paste: breaks DRY (Don't Repeat Yourself).</a:t>
            </a:r>
          </a:p>
          <a:p>
            <a:r>
              <a:t>    - Too complex: conditionals inside tests.</a:t>
            </a:r>
          </a:p>
          <a:p>
            <a:r>
              <a:t>    - Take time.</a:t>
            </a:r>
          </a:p>
          <a:p>
            <a:r>
              <a:t>    - Need external dependencies.</a:t>
            </a:r>
          </a:p>
          <a:p>
            <a:r>
              <a:t>- AI</a:t>
            </a:r>
          </a:p>
          <a:p>
            <a:r>
              <a:t>  - Code</a:t>
            </a:r>
          </a:p>
          <a:p>
            <a:r>
              <a:t>    - More code.</a:t>
            </a:r>
          </a:p>
          <a:p>
            <a:r>
              <a:t>    - Better quality?</a:t>
            </a:r>
          </a:p>
          <a:p>
            <a:r>
              <a:t>    - Bugs fixed through regeneration.</a:t>
            </a:r>
          </a:p>
          <a:p>
            <a:r>
              <a:t>      - Prompt is the new spec. Is it better?</a:t>
            </a:r>
          </a:p>
          <a:p>
            <a:r>
              <a:t>    - Manual testing?</a:t>
            </a:r>
          </a:p>
          <a:p>
            <a:r>
              <a:t>    - No test if it is regenerated?</a:t>
            </a:r>
          </a:p>
          <a:p>
            <a:r>
              <a:t>  - Tests</a:t>
            </a:r>
          </a:p>
          <a:p>
            <a:r>
              <a:t>    - No abstraction.</a:t>
            </a:r>
          </a:p>
          <a:p>
            <a:r>
              <a:t>    - Deleting/changing regression tests just to pass.</a:t>
            </a:r>
          </a:p>
          <a:p>
            <a:r>
              <a:t>    - Reflection-based tests to circumvent private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tdd5.md</a:t>
            </a:r>
          </a:p>
          <a:p/>
          <a:p>
            <a:r>
              <a:t>- Agile movement</a:t>
            </a:r>
          </a:p>
          <a:p>
            <a:r>
              <a:t>- Test-driven development : by example : Beck, Kent 2002</a:t>
            </a:r>
          </a:p>
          <a:p>
            <a:r>
              <a:t>  - https://archive.org/details/est-driven-development-by-example/test-driven-development-by-example/</a:t>
            </a:r>
          </a:p>
          <a:p>
            <a:r>
              <a:t>- Still works now, also with AI</a:t>
            </a:r>
          </a:p>
          <a:p>
            <a:r>
              <a:t>- Part of eXtreme Programming practices:</a:t>
            </a:r>
          </a:p>
          <a:p>
            <a:r>
              <a:t>  ![xp practices](xp-practices.png)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tdd5.md</a:t>
            </a:r>
          </a:p>
          <a:p/>
          <a:p>
            <a:r>
              <a:t>TDD is practice - https://newsletter.kentbeck.com/p/canon-tdd</a:t>
            </a:r>
          </a:p>
          <a:p>
            <a:r>
              <a:t>![red green refactor cycle](red-green-refactor.png)</a:t>
            </a:r>
          </a:p>
          <a:p/>
          <a:p>
            <a:r>
              <a:t>RED - Write a test, make it compile, run to confirm it fails.</a:t>
            </a:r>
          </a:p>
          <a:p>
            <a:r>
              <a:t>  - There are tests that always pass. We want to be sure we first fail (including compilation errors).</a:t>
            </a:r>
          </a:p>
          <a:p/>
          <a:p>
            <a:r>
              <a:t>GREEN - Write the simplest code to make the test pass.</a:t>
            </a:r>
          </a:p>
          <a:p>
            <a:r>
              <a:t>  - Sins allowed: hacks, duct tape programming, copy-paste, and other shortcuts are allowed.</a:t>
            </a:r>
          </a:p>
          <a:p>
            <a:r>
              <a:t>  - YAGNI. Don't overengineer. No analysis paralysis.</a:t>
            </a:r>
          </a:p>
          <a:p/>
          <a:p>
            <a:r>
              <a:t>REFACTOR - Refactor the code to remove duplication.</a:t>
            </a:r>
          </a:p>
          <a:p>
            <a:r>
              <a:t>  - Keep the test green.</a:t>
            </a:r>
          </a:p>
          <a:p>
            <a:r>
              <a:t>  - Respect: YAGNI, OCP, and other principles, no code smells, and other good practices.</a:t>
            </a:r>
          </a:p>
          <a:p/>
          <a:p>
            <a:r>
              <a:t>+++</a:t>
            </a:r>
          </a:p>
          <a:p/>
          <a:p>
            <a:r>
              <a:t>Different phases have different purposes/focus:</a:t>
            </a:r>
          </a:p>
          <a:p>
            <a:r>
              <a:t>- RED: prove missing functionality without knowing/passing implementation details</a:t>
            </a:r>
          </a:p>
          <a:p>
            <a:r>
              <a:t>- GREEN: add new functionality as fast as possible (hacking around, duplicate code, whatever works to fix)</a:t>
            </a:r>
          </a:p>
          <a:p>
            <a:r>
              <a:t>- REFACTOR: clean up the solution (good practices, remove code smells, clean code, clean design)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tdd5.md</a:t>
            </a:r>
          </a:p>
          <a:p/>
          <a:p>
            <a:r>
              <a:t>Requirement:</a:t>
            </a:r>
          </a:p>
          <a:p>
            <a:r>
              <a:t>&gt; Given a company group(division, organization, department), show its direct child groups and the number of projects directly contained in each child group.</a:t>
            </a:r>
          </a:p>
          <a:p/>
          <a:p>
            <a:r>
              <a:t>```java</a:t>
            </a:r>
          </a:p>
          <a:p>
            <a:r>
              <a:t>@Test</a:t>
            </a:r>
          </a:p>
          <a:p>
            <a:r>
              <a:t>void showsChildGroupsWithTheirDirectProjectCounts() {</a:t>
            </a:r>
          </a:p>
          <a:p>
            <a:r>
              <a:t>    //var directory = ProjectDirectory.of(); //1</a:t>
            </a:r>
          </a:p>
          <a:p>
            <a:r>
              <a:t>    var directory = ProjectDirectory.of("uat-datasource1"); //2</a:t>
            </a:r>
          </a:p>
          <a:p/>
          <a:p>
            <a:r>
              <a:t>    try {</a:t>
            </a:r>
          </a:p>
          <a:p>
            <a:r>
              <a:t>        directory.createGroup("Technology");</a:t>
            </a:r>
          </a:p>
          <a:p>
            <a:r>
              <a:t>        directory.createGroup("Engineering", "Technology");</a:t>
            </a:r>
          </a:p>
          <a:p>
            <a:r>
              <a:t>        directory.createGroup("Finance", "Technology");</a:t>
            </a:r>
          </a:p>
          <a:p/>
          <a:p>
            <a:r>
              <a:t>        directory.addProject("Engineering", "Atlas");</a:t>
            </a:r>
          </a:p>
          <a:p>
            <a:r>
              <a:t>        directory.addProject("Engineering", "Orion");</a:t>
            </a:r>
          </a:p>
          <a:p>
            <a:r>
              <a:t>        directory.addProject("Finance", "Ledger");</a:t>
            </a:r>
          </a:p>
          <a:p/>
          <a:p>
            <a:r>
              <a:t>        assertThat(directory.childGroupsOf("Technology"))</a:t>
            </a:r>
          </a:p>
          <a:p>
            <a:r>
              <a:t>            .containsExactlyInAnyOrder(</a:t>
            </a:r>
          </a:p>
          <a:p>
            <a:r>
              <a:t>                GroupSummary.of("Engineering", 2),</a:t>
            </a:r>
          </a:p>
          <a:p>
            <a:r>
              <a:t>                GroupSummary.of("Finance", 1)</a:t>
            </a:r>
          </a:p>
          <a:p>
            <a:r>
              <a:t>            );</a:t>
            </a:r>
          </a:p>
          <a:p>
            <a:r>
              <a:t>    } finally {</a:t>
            </a:r>
          </a:p>
          <a:p>
            <a:r>
              <a:t>        // Cleanup //3</a:t>
            </a:r>
          </a:p>
          <a:p>
            <a:r>
              <a:t>        directory.deleteGroupRecursively("Technology");</a:t>
            </a:r>
          </a:p>
          <a:p>
            <a:r>
              <a:t>    }</a:t>
            </a:r>
          </a:p>
          <a:p>
            <a:r>
              <a:t>}</a:t>
            </a:r>
          </a:p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tdd5.md</a:t>
            </a:r>
          </a:p>
          <a:p/>
          <a:p>
            <a:r>
              <a:t>A good/canon TDD</a:t>
            </a:r>
          </a:p>
          <a:p>
            <a:r>
              <a:t>- design tool</a:t>
            </a:r>
          </a:p>
          <a:p>
            <a:r>
              <a:t>- grows a regression test suite</a:t>
            </a:r>
          </a:p>
          <a:p>
            <a:r>
              <a:t>- feel safe to refactor (enables YAGNI and OCP) - refactoring is first class concept</a:t>
            </a:r>
          </a:p>
          <a:p/>
          <a:p>
            <a:r>
              <a:t>More on what is a **unit**</a:t>
            </a:r>
          </a:p>
          <a:p>
            <a:r>
              <a:t>- https://blog.stevensanderson.com/2009/08/24/writing-great-unit-tests-best-and-worst-practises/</a:t>
            </a:r>
          </a:p>
          <a:p/>
          <a:p>
            <a:r>
              <a:t>A facade to something that acts as a unit. A responsibility.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tdd5.md</a:t>
            </a:r>
          </a:p>
          <a:p/>
          <a:p>
            <a:r>
              <a:t>Top-down units ⇒ Test-Driven Design.</a:t>
            </a:r>
          </a:p>
          <a:p/>
          <a:p>
            <a:r>
              <a:t>- Split it when it breaks and when we need to search through it.</a:t>
            </a:r>
          </a:p>
          <a:p>
            <a:r>
              <a:t>- We don't want to know the details: whatever works for the unit.</a:t>
            </a:r>
          </a:p>
          <a:p/>
          <a:p>
            <a:r>
              <a:t>```mermaid</a:t>
            </a:r>
          </a:p>
          <a:p>
            <a:r>
              <a:t>flowchart TD</a:t>
            </a:r>
          </a:p>
          <a:p>
            <a:r>
              <a:t>    U1[Unit 1] --&gt; U11[Unit 1.1]</a:t>
            </a:r>
          </a:p>
          <a:p>
            <a:r>
              <a:t>    U1 --&gt; U12[Unit 1.2]</a:t>
            </a:r>
          </a:p>
          <a:p>
            <a:r>
              <a:t>    U1 --&gt; U13[Unit 1.3]</a:t>
            </a:r>
          </a:p>
          <a:p>
            <a:r>
              <a:t>    U1 --&gt; U14[Unit 1.4]</a:t>
            </a:r>
          </a:p>
          <a:p>
            <a:r>
              <a:t>    U13 --&gt; U131[Unit 1.3.1]</a:t>
            </a:r>
          </a:p>
          <a:p>
            <a:r>
              <a:t>    U13 --&gt; U132[Unit 1.3.2]</a:t>
            </a:r>
          </a:p>
          <a:p>
            <a:r>
              <a:t>    U132 -.-&gt; U132b[Unit 1.3.2b]</a:t>
            </a:r>
          </a:p>
          <a:p>
            <a:r>
              <a:t>    style U132 text-decoration:line-through</a:t>
            </a:r>
          </a:p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tdd5.md</a:t>
            </a:r>
          </a:p>
          <a:p/>
          <a:p>
            <a:r>
              <a:t>So we have a test that fails.</a:t>
            </a:r>
          </a:p>
          <a:p>
            <a:r>
              <a:t>We might want to expose an internal detail of the unit and make assertions on it. Is thightly coupled to the implementation internal details. If that sub-unit component is complex or is used in other parts of the system it can become a unit on its own. If is simple the current test should be enough definition of success.</a:t>
            </a:r>
          </a:p>
          <a:p/>
          <a:p>
            <a:r>
              <a:t>Principles</a:t>
            </a:r>
          </a:p>
          <a:p/>
          <a:p>
            <a:r>
              <a:t>- Encapsulation</a:t>
            </a:r>
          </a:p>
          <a:p>
            <a:r>
              <a:t>- Divide and conquer</a:t>
            </a:r>
          </a:p>
          <a:p>
            <a:r>
              <a:t>- YAGNI</a:t>
            </a:r>
          </a:p>
          <a:p>
            <a:r>
              <a:t>- Tell, Don't 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tdd5.md</a:t>
            </a:r>
          </a:p>
          <a:p/>
          <a:p>
            <a:r>
              <a:t>Test in TDD is **developer test**.</a:t>
            </a:r>
          </a:p>
          <a:p>
            <a:r>
              <a:t>The unit is the thing that has a facade.</a:t>
            </a:r>
          </a:p>
          <a:p>
            <a:r>
              <a:t>With a test we want to exercise the behavior of the system. </a:t>
            </a:r>
          </a:p>
          <a:p/>
          <a:p>
            <a:r>
              <a:t>Some classes are implementation details of the unit and some advocate to delete tests used for the internal implementation.</a:t>
            </a:r>
          </a:p>
          <a:p/>
          <a:p>
            <a:r>
              <a:t>The facade/API has usually 4 types of operations that act in concert:</a:t>
            </a:r>
          </a:p>
          <a:p>
            <a:r>
              <a:t>- factory/lookup - to get access to a unit</a:t>
            </a:r>
          </a:p>
          <a:p>
            <a:r>
              <a:t>- functions - compute something</a:t>
            </a:r>
          </a:p>
          <a:p>
            <a:r>
              <a:t>- query - to observe the state</a:t>
            </a:r>
          </a:p>
          <a:p>
            <a:r>
              <a:t>- commands - to change the state</a:t>
            </a:r>
          </a:p>
          <a:p/>
          <a:p>
            <a:r>
              <a:t>Usually our tests need first to get access to a unit, then to query it, and finally to command it.</a:t>
            </a:r>
          </a:p>
          <a:p/>
          <a:p>
            <a:r>
              <a:t>So naturally we will grow the tests on the most complex parts of the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tdd5.md</a:t>
            </a:r>
          </a:p>
          <a:p/>
          <a:p>
            <a:r>
              <a:t>1. Get access to the unit.</a:t>
            </a:r>
          </a:p>
          <a:p>
            <a:r>
              <a:t>2. Move the unit to a known state</a:t>
            </a:r>
          </a:p>
          <a:p>
            <a:r>
              <a:t>   - Should not depend on past runs (the test before could even crash so the cleanup before is not guaranteed to be executed).</a:t>
            </a:r>
          </a:p>
          <a:p>
            <a:r>
              <a:t>3. Query the unit to assert the state is as expected.</a:t>
            </a:r>
          </a:p>
          <a:p>
            <a:r>
              <a:t>4. Command the unit to change its state.</a:t>
            </a:r>
          </a:p>
          <a:p>
            <a:r>
              <a:t>5. Query the unit to assert the state is as expected.</a:t>
            </a:r>
          </a:p>
          <a:p>
            <a:r>
              <a:t>6. ~~Cleanup the unit to a known state.~~</a:t>
            </a:r>
          </a:p>
          <a:p>
            <a:r>
              <a:t>   - Cleanup is not warranted (the system could crash, or end in the middle of the test).</a:t>
            </a:r>
          </a:p>
          <a:p>
            <a:r>
              <a:t>   - Cleanup would create the impression that the other tests are safe to run after this one and that they don't need to be isolated. But they do.</a:t>
            </a:r>
          </a:p>
          <a:p>
            <a:r>
              <a:t>   - Cleanup will block investigations of the state of the unit after a test has run.</a:t>
            </a:r>
          </a:p>
          <a:p/>
          <a:p/>
          <a:p>
            <a:r>
              <a:t>```java</a:t>
            </a:r>
          </a:p>
          <a:p>
            <a:r>
              <a:t>@Test</a:t>
            </a:r>
          </a:p>
          <a:p>
            <a:r>
              <a:t>void showsChildGroupsWithTheirDirectProjectCounts() {</a:t>
            </a:r>
          </a:p>
          <a:p>
            <a:r>
              <a:t>    var directory = ProjectDirectory.of("uat-datasource1");</a:t>
            </a:r>
          </a:p>
          <a:p/>
          <a:p>
            <a:r>
              <a:t>    // Establish a known initial state, even if a previous run crashed.</a:t>
            </a:r>
          </a:p>
          <a:p>
            <a:r>
              <a:t>    directory.deleteGroupRecursively("Technology");</a:t>
            </a:r>
          </a:p>
          <a:p>
            <a:r>
              <a:t>    directory.createGroup("Technology");</a:t>
            </a:r>
          </a:p>
          <a:p/>
          <a:p>
            <a:r>
              <a:t>    assertThat(directory.childGroupsOf("Technology")).isEmpty();</a:t>
            </a:r>
          </a:p>
          <a:p/>
          <a:p>
            <a:r>
              <a:t>    directory.createGroup("Engineering", "Technology");</a:t>
            </a:r>
          </a:p>
          <a:p>
            <a:r>
              <a:t>    directory.createGroup("Finance", "Technology");</a:t>
            </a:r>
          </a:p>
          <a:p/>
          <a:p>
            <a:r>
              <a:t>    directory.addProject("Engineering", "Atlas");</a:t>
            </a:r>
          </a:p>
          <a:p>
            <a:r>
              <a:t>    directory.addProject("Engineering", "Orion");</a:t>
            </a:r>
          </a:p>
          <a:p>
            <a:r>
              <a:t>    directory.addProject("Finance", "Ledger");</a:t>
            </a:r>
          </a:p>
          <a:p/>
          <a:p>
            <a:r>
              <a:t>    assertThat(directory.childGroupsOf("Technology"))</a:t>
            </a:r>
          </a:p>
          <a:p>
            <a:r>
              <a:t>        .containsExactlyInAnyOrder(</a:t>
            </a:r>
          </a:p>
          <a:p>
            <a:r>
              <a:t>            GroupSummary.of("Engineering", 2),</a:t>
            </a:r>
          </a:p>
          <a:p>
            <a:r>
              <a:t>            GroupSummary.of("Finance", 1)</a:t>
            </a:r>
          </a:p>
          <a:p>
            <a:r>
              <a:t>        );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`deleteGroupRecursively` should tolerate a missing group. This assumes `"Technology"` is reserved for this test and concurrent runs do not share it.</a:t>
            </a:r>
          </a:p>
          <a:p/>
          <a:p>
            <a:r>
              <a:t>+++</a:t>
            </a:r>
          </a:p>
          <a:p/>
          <a:p>
            <a:r>
              <a:t>With a real database:</a:t>
            </a:r>
          </a:p>
          <a:p/>
          <a:p>
            <a:r>
              <a:t>- Minimal input information, expressed in concepts ⇒ no accidental complexity.</a:t>
            </a:r>
          </a:p>
          <a:p>
            <a:r>
              <a:t>- Clear output.</a:t>
            </a:r>
          </a:p>
          <a:p/>
          <a:p>
            <a:r>
              <a:t>Emergent properties</a:t>
            </a:r>
          </a:p>
          <a:p/>
          <a:p>
            <a:r>
              <a:t>- Testable code.</a:t>
            </a:r>
          </a:p>
          <a:p>
            <a:r>
              <a:t>- Composable.</a:t>
            </a:r>
          </a:p>
          <a:p>
            <a:r>
              <a:t>- Instantiable.</a:t>
            </a:r>
          </a:p>
          <a:p>
            <a:r>
              <a:t>- Fast.</a:t>
            </a:r>
          </a:p>
          <a:p>
            <a:r>
              <a:t>- Focus on the first problem.</a:t>
            </a:r>
          </a:p>
          <a:p/>
          <a:p>
            <a:r>
              <a:t>Opens doors for explorable code.</a:t>
            </a:r>
          </a:p>
          <a:p/>
          <a:p>
            <a:r>
              <a:t>Clear errors provide guidance. See Git errors.</a:t>
            </a:r>
          </a:p>
          <a:p/>
          <a:p>
            <a:r>
              <a:t>+++</a:t>
            </a:r>
          </a:p>
          <a:p/>
          <a:p>
            <a:r>
              <a:t>- Use AssertJ in Java and Kotlin.</a:t>
            </a:r>
          </a:p>
          <a:p>
            <a:r>
              <a:t>- Better than mock, stub, or fake ⇒ lazy-load real database</a:t>
            </a:r>
          </a:p>
          <a:p>
            <a:r>
              <a:t>- Prefer constructor injection - works with dependency injection containers but also manuall (even without annotations).</a:t>
            </a:r>
          </a:p>
          <a:p>
            <a:r>
              <a:t>  - Forces better design in wiriging.</a:t>
            </a:r>
          </a:p>
          <a:p>
            <a:r>
              <a:t>- Use a facade to instantiate the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tdd5.md</a:t>
            </a:r>
          </a:p>
          <a:p/>
          <a:p>
            <a:r>
              <a:t>&gt; The role of tests and developers when working with AI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tdd5.md</a:t>
            </a:r>
          </a:p>
          <a:p/>
          <a:p>
            <a:r>
              <a:t>&gt; What works well and where things can go wrong at each stage of the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tdd5.md</a:t>
            </a:r>
          </a:p>
          <a:p/>
          <a:p>
            <a:r>
              <a:t>- testing implementation details</a:t>
            </a:r>
          </a:p>
          <a:p>
            <a:r>
              <a:t>- mocking</a:t>
            </a:r>
          </a:p>
          <a:p>
            <a:r>
              <a:t>- testing query and command separately</a:t>
            </a:r>
          </a:p>
          <a:p>
            <a:r>
              <a:t>- changing internal state via methods that are not part of the facade (is a white-box testing smell)</a:t>
            </a:r>
          </a:p>
          <a:p>
            <a:r>
              <a:t>- tests that are not isolated and depend on the order of execution of other tests (is a white-box testing smell)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tdd5.md</a:t>
            </a:r>
          </a:p>
          <a:p/>
          <a:p>
            <a:r>
              <a:t>&gt; Testing Approaches and Trade-offs: Test-at-end, acceptance testing, BDD, internal testing, mocking libraries and UI testing, including their benefits, costs and potential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tdd5.md</a:t>
            </a:r>
          </a:p>
          <a:p/>
          <a:p>
            <a:r>
              <a:t>- We have a battery of tests and on mutation we can pinpoint the mutation by just looking at the tests. With what price? In writing tests and in maintaining them?</a:t>
            </a:r>
          </a:p>
          <a:p>
            <a:r>
              <a:t>- Test coverage will help. Maybe if 100%, and maybe if we also have 100% branch coverage. That is not practical and rarely achievable. So we need strategic testing. Top down?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tdd5.md</a:t>
            </a:r>
          </a:p>
          <a:p/>
          <a:p>
            <a:r>
              <a:t>&gt; XP, pair programming, trunk-based development, DDD, hexagonal architecture, clean code, and design principles such as DRY, OCP and SRP.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tdd5.md</a:t>
            </a:r>
          </a:p>
          <a:p/>
          <a:p>
            <a:r>
              <a:t>- DDD (Domain Driven Design) &amp; Hexagonal Architecture.</a:t>
            </a:r>
          </a:p>
          <a:p>
            <a:r>
              <a:t>  - we could use a persistance layer (whatever is faster to run and use)</a:t>
            </a:r>
          </a:p>
          <a:p>
            <a:r>
              <a:t>    - database: embedded, in memory or a real one</a:t>
            </a:r>
          </a:p>
          <a:p>
            <a:r>
              <a:t>      - real SQL queries/CRUD also get tested (think that native sql querries)</a:t>
            </a:r>
          </a:p>
          <a:p>
            <a:r>
              <a:t>    - in memory data structures</a:t>
            </a:r>
          </a:p>
          <a:p>
            <a:r>
              <a:t>- Clean Code</a:t>
            </a:r>
          </a:p>
          <a:p>
            <a:r>
              <a:t>- Refactoring of Code Smells</a:t>
            </a:r>
          </a:p>
          <a:p>
            <a:r>
              <a:t>  - Open Closed Principle. If we break tests then we don't respect the OCP.</a:t>
            </a:r>
          </a:p>
          <a:p>
            <a:r>
              <a:t>  - A refactor keeps the tests green.</a:t>
            </a:r>
          </a:p>
          <a:p>
            <a:r>
              <a:t>  - We are free to change the implementation details if the tests are green.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tdd5.md</a:t>
            </a:r>
          </a:p>
          <a:p/>
          <a:p>
            <a:r>
              <a:t>&gt; Questions and experiences from your own projects are very welcome, including those situations where tests may have caused more headaches than help.</a:t>
            </a:r>
          </a:p>
          <a:p>
            <a:r>
              <a:t>&gt; Topics for future sessions based on real challenges and experiences from our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tdd5.md</a:t>
            </a:r>
          </a:p>
          <a:p/>
          <a:p>
            <a:r>
              <a:t>- https://www.google.com/search?q=TDD%2C+Where+Did+It+All+Go+Wrong&amp;sourceid=chrome&amp;ie=UTF-8&amp;source=chrome.ctxt</a:t>
            </a:r>
          </a:p>
          <a:p>
            <a:r>
              <a:t>- TDD, Where Did It All Go Wrong (Ian Cooper) - https://www.youtube.com/watch?v=EZ05e7EMOLM</a:t>
            </a:r>
          </a:p>
          <a:p>
            <a:r>
              <a:t>- https://www.reddit.com/r/programming/comments/21fhy7/ian_cooper_tdd_where_did_it_all_go_wrong/</a:t>
            </a:r>
          </a:p>
          <a:p>
            <a:r>
              <a:t>- https://archive.org/details/est-driven-development-by-example/test-driven-development-by-example/</a:t>
            </a:r>
          </a:p>
          <a:p>
            <a:r>
              <a:t>- Dan North - https://dannorth.net/</a:t>
            </a:r>
          </a:p>
          <a:p>
            <a:r>
              <a:t>- https://martinfowler.com/articles/are-harnesses-worth-the-cost.html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archive.org/details/est-driven-development-by-example/test-driven-development-by-example/" TargetMode="Externa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newsletter.kentbeck.com/p/canon-tdd" TargetMode="Externa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log.stevensanderson.com/2009/08/24/writing-great-unit-tests-best-and-worst-practises/" TargetMode="Externa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google.com/search?q=TDD%2C+Where+Did+It+All+Go+Wrong&amp;sourceid=chrome&amp;ie=UTF-8&amp;source=chrome.ctxt" TargetMode="External"/><Relationship Id="rId3" Type="http://schemas.openxmlformats.org/officeDocument/2006/relationships/hyperlink" Target="https://www.youtube.com/watch?v=EZ05e7EMOLM" TargetMode="External"/><Relationship Id="rId4" Type="http://schemas.openxmlformats.org/officeDocument/2006/relationships/hyperlink" Target="https://www.reddit.com/r/programming/comments/21fhy7/ian_cooper_tdd_where_did_it_all_go_wrong/" TargetMode="External"/><Relationship Id="rId5" Type="http://schemas.openxmlformats.org/officeDocument/2006/relationships/hyperlink" Target="https://archive.org/details/est-driven-development-by-example/test-driven-development-by-example/" TargetMode="External"/><Relationship Id="rId6" Type="http://schemas.openxmlformats.org/officeDocument/2006/relationships/hyperlink" Target="https://dannorth.net/" TargetMode="External"/><Relationship Id="rId7" Type="http://schemas.openxmlformats.org/officeDocument/2006/relationships/hyperlink" Target="https://martinfowler.com/articles/are-harnesses-worth-the-cost.html" TargetMode="External"/><Relationship Id="rId8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19796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TDD Talk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2026-10-28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Costin Grigore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DB Engineering Coach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854196"/>
            <a:ext cx="10607040" cy="10398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Test Infected 2001 through XP.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Test Infected = I need tests to clarify when is done: the bug, the feature.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12280"/>
            <a:ext cx="609584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3770375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1. What is TDD? RED &gt; GREEN &gt; REFACTOR cycle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2. TDD in the Agentic Era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3. TDD The Good, the Bad and the Ugly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4. Beyond TDD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5. Complementing Practices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6. Questions, experiences, next sessions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7.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9169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1. What is TDD? The purpose of TDD and the RED &gt; GREEN &gt; REFACTOR cycle.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1.1 Why tests? Do we need them?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2834640" cy="398310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300">
                <a:solidFill>
                  <a:srgbClr val="E6E6E6"/>
                </a:solidFill>
                <a:latin typeface="Arial"/>
              </a:defRPr>
            </a:pPr>
            <a:r>
              <a:t>• Code -&gt; Tests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300">
                <a:solidFill>
                  <a:srgbClr val="E6E6E6"/>
                </a:solidFill>
                <a:latin typeface="Arial"/>
              </a:defRPr>
            </a:pPr>
            <a:r>
              <a:t>  • scafolding to help out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300">
                <a:solidFill>
                  <a:srgbClr val="E6E6E6"/>
                </a:solidFill>
                <a:latin typeface="Arial"/>
              </a:defRPr>
            </a:pPr>
            <a:r>
              <a:t>  • quality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300">
                <a:solidFill>
                  <a:srgbClr val="E6E6E6"/>
                </a:solidFill>
                <a:latin typeface="Arial"/>
              </a:defRPr>
            </a:pPr>
            <a:r>
              <a:t>  • acceptance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300">
                <a:solidFill>
                  <a:srgbClr val="E6E6E6"/>
                </a:solidFill>
                <a:latin typeface="Arial"/>
              </a:defRPr>
            </a:pPr>
            <a:r>
              <a:t>  • post change tests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300">
                <a:solidFill>
                  <a:srgbClr val="E6E6E6"/>
                </a:solidFill>
                <a:latin typeface="Arial"/>
              </a:defRPr>
            </a:pPr>
            <a:r>
              <a:t>• There are many ways to pair code with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0" y="1874519"/>
            <a:ext cx="3657600" cy="39227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200">
                <a:solidFill>
                  <a:srgbClr val="E6E6E6"/>
                </a:solidFill>
                <a:latin typeface="Arial"/>
              </a:defRPr>
            </a:pPr>
            <a:r>
              <a:t>• Human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200">
                <a:solidFill>
                  <a:srgbClr val="E6E6E6"/>
                </a:solidFill>
                <a:latin typeface="Arial"/>
              </a:defRPr>
            </a:pPr>
            <a:r>
              <a:t>  • Code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200">
                <a:solidFill>
                  <a:srgbClr val="E6E6E6"/>
                </a:solidFill>
                <a:latin typeface="Arial"/>
              </a:defRPr>
            </a:pPr>
            <a:r>
              <a:t>    • On every change we throw away past manual testing.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200">
                <a:solidFill>
                  <a:srgbClr val="E6E6E6"/>
                </a:solidFill>
                <a:latin typeface="Arial"/>
              </a:defRPr>
            </a:pPr>
            <a:r>
              <a:t>  • Tests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200">
                <a:solidFill>
                  <a:srgbClr val="E6E6E6"/>
                </a:solidFill>
                <a:latin typeface="Arial"/>
              </a:defRPr>
            </a:pPr>
            <a:r>
              <a:t>    • Fragile.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200">
                <a:solidFill>
                  <a:srgbClr val="E6E6E6"/>
                </a:solidFill>
                <a:latin typeface="Arial"/>
              </a:defRPr>
            </a:pPr>
            <a:r>
              <a:t>    • Tests are tightly coupled to the implementation.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200">
                <a:solidFill>
                  <a:srgbClr val="E6E6E6"/>
                </a:solidFill>
                <a:latin typeface="Arial"/>
              </a:defRPr>
            </a:pPr>
            <a:r>
              <a:t>    • Too many.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200">
                <a:solidFill>
                  <a:srgbClr val="E6E6E6"/>
                </a:solidFill>
                <a:latin typeface="Arial"/>
              </a:defRPr>
            </a:pPr>
            <a:r>
              <a:t>    • Coverage. Proper coverage?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200">
                <a:solidFill>
                  <a:srgbClr val="E6E6E6"/>
                </a:solidFill>
                <a:latin typeface="Arial"/>
              </a:defRPr>
            </a:pPr>
            <a:r>
              <a:t>    • Tedious.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200">
                <a:solidFill>
                  <a:srgbClr val="E6E6E6"/>
                </a:solidFill>
                <a:latin typeface="Arial"/>
              </a:defRPr>
            </a:pPr>
            <a:r>
              <a:t>    • Copy-paste: breaks DRY (Don't Repeat Yourself).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200">
                <a:solidFill>
                  <a:srgbClr val="E6E6E6"/>
                </a:solidFill>
                <a:latin typeface="Arial"/>
              </a:defRPr>
            </a:pPr>
            <a:r>
              <a:t>    • Too complex: conditionals inside tests.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200">
                <a:solidFill>
                  <a:srgbClr val="E6E6E6"/>
                </a:solidFill>
                <a:latin typeface="Arial"/>
              </a:defRPr>
            </a:pPr>
            <a:r>
              <a:t>    • Take time.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200">
                <a:solidFill>
                  <a:srgbClr val="E6E6E6"/>
                </a:solidFill>
                <a:latin typeface="Arial"/>
              </a:defRPr>
            </a:pPr>
            <a:r>
              <a:t>    • Need external dependencies.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874519"/>
            <a:ext cx="3657600" cy="384975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300">
                <a:solidFill>
                  <a:srgbClr val="E6E6E6"/>
                </a:solidFill>
                <a:latin typeface="Arial"/>
              </a:defRPr>
            </a:pPr>
            <a:r>
              <a:t>• AI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300">
                <a:solidFill>
                  <a:srgbClr val="E6E6E6"/>
                </a:solidFill>
                <a:latin typeface="Arial"/>
              </a:defRPr>
            </a:pPr>
            <a:r>
              <a:t>  • Code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300">
                <a:solidFill>
                  <a:srgbClr val="E6E6E6"/>
                </a:solidFill>
                <a:latin typeface="Arial"/>
              </a:defRPr>
            </a:pPr>
            <a:r>
              <a:t>    • More code.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300">
                <a:solidFill>
                  <a:srgbClr val="E6E6E6"/>
                </a:solidFill>
                <a:latin typeface="Arial"/>
              </a:defRPr>
            </a:pPr>
            <a:r>
              <a:t>    • Better quality?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300">
                <a:solidFill>
                  <a:srgbClr val="E6E6E6"/>
                </a:solidFill>
                <a:latin typeface="Arial"/>
              </a:defRPr>
            </a:pPr>
            <a:r>
              <a:t>    • Bugs fixed through regeneration.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300">
                <a:solidFill>
                  <a:srgbClr val="E6E6E6"/>
                </a:solidFill>
                <a:latin typeface="Arial"/>
              </a:defRPr>
            </a:pPr>
            <a:r>
              <a:t>      • Prompt is the new spec. Is it better?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300">
                <a:solidFill>
                  <a:srgbClr val="E6E6E6"/>
                </a:solidFill>
                <a:latin typeface="Arial"/>
              </a:defRPr>
            </a:pPr>
            <a:r>
              <a:t>    • Manual testing?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300">
                <a:solidFill>
                  <a:srgbClr val="E6E6E6"/>
                </a:solidFill>
                <a:latin typeface="Arial"/>
              </a:defRPr>
            </a:pPr>
            <a:r>
              <a:t>    • No test if it is regenerated?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300">
                <a:solidFill>
                  <a:srgbClr val="E6E6E6"/>
                </a:solidFill>
                <a:latin typeface="Arial"/>
              </a:defRPr>
            </a:pPr>
            <a:r>
              <a:t>  • Tests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300">
                <a:solidFill>
                  <a:srgbClr val="E6E6E6"/>
                </a:solidFill>
                <a:latin typeface="Arial"/>
              </a:defRPr>
            </a:pPr>
            <a:r>
              <a:t>    • No abstraction.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300">
                <a:solidFill>
                  <a:srgbClr val="E6E6E6"/>
                </a:solidFill>
                <a:latin typeface="Arial"/>
              </a:defRPr>
            </a:pPr>
            <a:r>
              <a:t>    • Deleting/changing regression tests just to pass.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300">
                <a:solidFill>
                  <a:srgbClr val="E6E6E6"/>
                </a:solidFill>
                <a:latin typeface="Arial"/>
              </a:defRPr>
            </a:pPr>
            <a:r>
              <a:t>    • Reflection-based tests to circumvent private methods.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3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12280"/>
            <a:ext cx="1828754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1. What is TDD? The purpose of TDD and the RED &gt; GREEN &gt; REFACTOR cycle.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1.2 Were did all started?</a:t>
            </a:r>
          </a:p>
        </p:txBody>
      </p:sp>
      <p:pic>
        <p:nvPicPr>
          <p:cNvPr id="4" name="Picture 3" descr="xp practi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19"/>
            <a:ext cx="292608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23360" y="1874519"/>
            <a:ext cx="7315200" cy="30210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Agile movement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Test-driven development : by example : Beck, Kent 2002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3"/>
              </a:rPr>
              <a:t>  • Kent Beck — Test-Driven Development by Example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Still works now, also with AI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Part of eXtreme Programming practices: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4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12280"/>
            <a:ext cx="2438339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1. What is TDD? The purpose of TDD and the RED &gt; GREEN &gt; REFACTOR cycle.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1.3 TDD Cycle: RED-GREEN-REFACTOR</a:t>
            </a:r>
          </a:p>
        </p:txBody>
      </p:sp>
      <p:pic>
        <p:nvPicPr>
          <p:cNvPr id="4" name="Picture 3" descr="red green refactor cyc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19"/>
            <a:ext cx="2926080" cy="28273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23360" y="1874519"/>
            <a:ext cx="7315200" cy="26222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15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3"/>
              </a:rPr>
              <a:t>TDD is practice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RED - Write a test, make it compile, run to confirm it fails.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  • There are tests that always pass. We want to be sure we first fail (including compilation errors).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GREEN - Write the simplest code to make the test pass.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  • Sins allowed: hacks, duct tape programming, copy-paste, and other shortcuts are allowed.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  • YAGNI. Don't overengineer. No analysis paralysis.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REFACTOR - Refactor the code to remove duplication.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  • Keep the test green.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  • Respect: YAGNI, OCP, and other principles, no code smells, and other good practices.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4496816"/>
            <a:ext cx="7315200" cy="13421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Different phases have different purposes/focus: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• RED: prove missing functionality without knowing/passing implementation details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• GREEN: add new functionality as fast as possible (hacking around, duplicate code, whatever works to fix)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• REFACTOR: clean up the solution (good practices, remove code smells, clean code, clean design)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5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12280"/>
            <a:ext cx="3047923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1. What is TDD? The purpose of TDD and the RED &gt; GREEN &gt; REFACTOR cycle.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1.4 A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874519"/>
            <a:ext cx="530352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@Test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void showsChildGroupsWithTheirDirectProjectCounts()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//var directory = ProjectDirectory.of(); //1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var directory = ProjectDirectory.of("uat-datasource1"); //2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try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directory.createGroup("Technology");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directory.createGroup("Engineering", "Technology");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directory.createGroup("Finance", "Technology");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directory.addProject("Engineering", "Atlas");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directory.addProject("Engineering", "Orion");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directory.addProject("Finance", "Ledger");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assertThat(directory.childGroupsOf("Technology"))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    .containsExactlyInAnyOrder(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        GroupSummary.of("Engineering", 2),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        GroupSummary.of("Finance", 1)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    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} finally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// Cleanup //3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directory.deleteGroupRecursively("Technology");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5212080" cy="209118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Requirement: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Given a company group(division, organization, department), show its direct child groups and the number of projects directly contained in each child group.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6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12280"/>
            <a:ext cx="3657508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1. What is TDD? The purpose of TDD and the RED &gt; GREEN &gt; REFACTOR cycle.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1.5 What is the unit from unit testing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024375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300">
                <a:solidFill>
                  <a:srgbClr val="E6E6E6"/>
                </a:solidFill>
                <a:latin typeface="Arial"/>
              </a:defRPr>
            </a:pPr>
            <a:r>
              <a:t>A good/canon TDD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300">
                <a:solidFill>
                  <a:srgbClr val="E6E6E6"/>
                </a:solidFill>
                <a:latin typeface="Arial"/>
              </a:defRPr>
            </a:pPr>
            <a:r>
              <a:t>• design tool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300">
                <a:solidFill>
                  <a:srgbClr val="E6E6E6"/>
                </a:solidFill>
                <a:latin typeface="Arial"/>
              </a:defRPr>
            </a:pPr>
            <a:r>
              <a:t>• grows a regression test suite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300">
                <a:solidFill>
                  <a:srgbClr val="E6E6E6"/>
                </a:solidFill>
                <a:latin typeface="Arial"/>
              </a:defRPr>
            </a:pPr>
            <a:r>
              <a:t>• feel safe to refactor (enables YAGNI and OCP) - refactoring is first class concept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300">
                <a:solidFill>
                  <a:srgbClr val="E6E6E6"/>
                </a:solidFill>
                <a:latin typeface="Arial"/>
              </a:defRPr>
            </a:pPr>
            <a:r>
              <a:t>More on what is a unit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3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2"/>
              </a:rPr>
              <a:t>• Steve Sanderson — Writing Great Unit Tests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300">
                <a:solidFill>
                  <a:srgbClr val="E6E6E6"/>
                </a:solidFill>
                <a:latin typeface="Arial"/>
              </a:defRPr>
            </a:pPr>
            <a:r>
              <a:t>A facade to something that acts as a unit. A responsibility.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7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4267093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1. What is TDD? The purpose of TDD and the RED &gt; GREEN &gt; REFACTOR cycle.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1.6 Where do we cut?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347472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400" b="0">
                <a:solidFill>
                  <a:srgbClr val="E6E6E6"/>
                </a:solidFill>
                <a:latin typeface="Arial"/>
              </a:defRPr>
            </a:pPr>
            <a:r>
              <a:t>Top-down units ⇒ Test-Driven Design.</a:t>
            </a:r>
          </a:p>
          <a:p>
            <a:pPr>
              <a:defRPr sz="2400" b="0">
                <a:solidFill>
                  <a:srgbClr val="E6E6E6"/>
                </a:solidFill>
                <a:latin typeface="Arial"/>
              </a:defRPr>
            </a:pPr>
            <a:r>
              <a:t>• Split it when it breaks and when we need to search through it.</a:t>
            </a:r>
          </a:p>
          <a:p>
            <a:pPr>
              <a:defRPr sz="2400" b="0">
                <a:solidFill>
                  <a:srgbClr val="E6E6E6"/>
                </a:solidFill>
                <a:latin typeface="Arial"/>
              </a:defRPr>
            </a:pPr>
            <a:r>
              <a:t>• We don't want to know the details: whatever works for the unit.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5059680" y="2346121"/>
            <a:ext cx="2548128" cy="737007"/>
          </a:xfrm>
          <a:prstGeom prst="line">
            <a:avLst/>
          </a:prstGeom>
          <a:ln w="19050">
            <a:solidFill>
              <a:srgbClr val="4A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6736080" y="2346121"/>
            <a:ext cx="871728" cy="737007"/>
          </a:xfrm>
          <a:prstGeom prst="line">
            <a:avLst/>
          </a:prstGeom>
          <a:ln w="19050">
            <a:solidFill>
              <a:srgbClr val="4A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607808" y="2346121"/>
            <a:ext cx="804672" cy="737007"/>
          </a:xfrm>
          <a:prstGeom prst="line">
            <a:avLst/>
          </a:prstGeom>
          <a:ln w="19050">
            <a:solidFill>
              <a:srgbClr val="4A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607808" y="2346121"/>
            <a:ext cx="2481072" cy="737007"/>
          </a:xfrm>
          <a:prstGeom prst="line">
            <a:avLst/>
          </a:prstGeom>
          <a:ln w="19050">
            <a:solidFill>
              <a:srgbClr val="4A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7473695" y="3479977"/>
            <a:ext cx="938785" cy="772440"/>
          </a:xfrm>
          <a:prstGeom prst="line">
            <a:avLst/>
          </a:prstGeom>
          <a:ln w="19050">
            <a:solidFill>
              <a:srgbClr val="4A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412480" y="3479977"/>
            <a:ext cx="871728" cy="772440"/>
          </a:xfrm>
          <a:prstGeom prst="line">
            <a:avLst/>
          </a:prstGeom>
          <a:ln w="19050">
            <a:solidFill>
              <a:srgbClr val="4A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284208" y="4649266"/>
            <a:ext cx="0" cy="666141"/>
          </a:xfrm>
          <a:prstGeom prst="line">
            <a:avLst/>
          </a:prstGeom>
          <a:ln w="19050">
            <a:solidFill>
              <a:srgbClr val="4AA3FF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984187" y="1949272"/>
            <a:ext cx="1247241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E6E6E6"/>
                </a:solidFill>
                <a:latin typeface="Arial"/>
              </a:defRPr>
            </a:pPr>
            <a:r>
              <a:t>Unit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6059" y="3083128"/>
            <a:ext cx="1247241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E6E6E6"/>
                </a:solidFill>
                <a:latin typeface="Arial"/>
              </a:defRPr>
            </a:pPr>
            <a:r>
              <a:t>Unit 1.1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2459" y="3083128"/>
            <a:ext cx="1247241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E6E6E6"/>
                </a:solidFill>
                <a:latin typeface="Arial"/>
              </a:defRPr>
            </a:pPr>
            <a:r>
              <a:t>Unit 1.2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88859" y="3083128"/>
            <a:ext cx="1247241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E6E6E6"/>
                </a:solidFill>
                <a:latin typeface="Arial"/>
              </a:defRPr>
            </a:pPr>
            <a:r>
              <a:t>Unit 1.3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5259" y="3083128"/>
            <a:ext cx="1247241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E6E6E6"/>
                </a:solidFill>
                <a:latin typeface="Arial"/>
              </a:defRPr>
            </a:pPr>
            <a:r>
              <a:t>Unit 1.4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0075" y="4252417"/>
            <a:ext cx="1247241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E6E6E6"/>
                </a:solidFill>
                <a:latin typeface="Arial"/>
              </a:defRPr>
            </a:pPr>
            <a:r>
              <a:t>Unit 1.3.1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60587" y="4252417"/>
            <a:ext cx="1247241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E6E6E6"/>
                </a:solidFill>
                <a:latin typeface="Arial"/>
              </a:defRPr>
            </a:pPr>
            <a:r>
              <a:rPr strike="sngStrike"/>
              <a:t>Unit 1.3.2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60587" y="5315407"/>
            <a:ext cx="1247241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E6E6E6"/>
                </a:solidFill>
                <a:latin typeface="Arial"/>
              </a:defRPr>
            </a:pPr>
            <a:r>
              <a:t>Unit 1.3.2b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8 / 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12280"/>
            <a:ext cx="4876678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1. What is TDD? The purpose of TDD and the RED &gt; GREEN &gt; REFACTOR cycle. / 1.6 Where do we cut?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Spawning a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056125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900">
                <a:solidFill>
                  <a:srgbClr val="E6E6E6"/>
                </a:solidFill>
                <a:latin typeface="Arial"/>
              </a:defRPr>
            </a:pPr>
            <a:r>
              <a:t>So we have a test that fails.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900">
                <a:solidFill>
                  <a:srgbClr val="E6E6E6"/>
                </a:solidFill>
                <a:latin typeface="Arial"/>
              </a:defRPr>
            </a:pPr>
            <a:r>
              <a:t>We might want to expose an internal detail of the unit and make assertions on it. Is thightly coupled to the implementation internal details. If that sub-unit component is complex or is used in other parts of the system it can become a unit on its own. If is simple the current test should be enough definition of success.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900">
                <a:solidFill>
                  <a:srgbClr val="E6E6E6"/>
                </a:solidFill>
                <a:latin typeface="Arial"/>
              </a:defRPr>
            </a:pPr>
            <a:r>
              <a:t>Principles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900">
                <a:solidFill>
                  <a:srgbClr val="E6E6E6"/>
                </a:solidFill>
                <a:latin typeface="Arial"/>
              </a:defRPr>
            </a:pPr>
            <a:r>
              <a:t>• Encapsulation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900">
                <a:solidFill>
                  <a:srgbClr val="E6E6E6"/>
                </a:solidFill>
                <a:latin typeface="Arial"/>
              </a:defRPr>
            </a:pPr>
            <a:r>
              <a:t>• Divide and conquer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900">
                <a:solidFill>
                  <a:srgbClr val="E6E6E6"/>
                </a:solidFill>
                <a:latin typeface="Arial"/>
              </a:defRPr>
            </a:pPr>
            <a:r>
              <a:t>• YAGNI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900">
                <a:solidFill>
                  <a:srgbClr val="E6E6E6"/>
                </a:solidFill>
                <a:latin typeface="Arial"/>
              </a:defRPr>
            </a:pPr>
            <a:r>
              <a:t>• Tell, Don't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9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5486262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1. What is TDD? The purpose of TDD and the RED &gt; GREEN &gt; REFACTOR cycle. / 1.6 Where do we cut?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Entrypoint to unit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03072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Test in TDD is developer test.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The unit is the thing that has a facade.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With a test we want to exercise the behavior of the system. 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Some classes are implementation details of the unit and some advocate to delete tests used for the internal implementation.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The facade/API has usually 4 types of operations that act in concert: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• factory/lookup - to get access to a unit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• functions - compute something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• query - to observe the state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• commands - to change the state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Usually our tests need first to get access to a unit, then to query it, and finally to command it.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So naturally we will grow the tests on the most complex parts of the unit.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10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6095847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1. What is TDD? The purpose of TDD and the RED &gt; GREEN &gt; REFACTOR cycle.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1.7 Anathomy of a good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874519"/>
            <a:ext cx="530352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@Test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void showsChildGroupsWithTheirDirectProjectCounts()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var directory = ProjectDirectory.of("uat-datasource1");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// Establish a known initial state, even if a previous run crashed.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directory.deleteGroupRecursively("Technology");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directory.createGroup("Technology");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assertThat(directory.childGroupsOf("Technology")).isEmpty();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directory.createGroup("Engineering", "Technology");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directory.createGroup("Finance", "Technology");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directory.addProject("Engineering", "Atlas");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directory.addProject("Engineering", "Orion");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directory.addProject("Finance", "Ledger");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assertThat(directory.childGroupsOf("Technology"))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    .containsExactlyInAnyOrder(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        GroupSummary.of("Engineering", 2),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        GroupSummary.of("Finance", 1)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    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5212080" cy="187325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1. Get access to the unit.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2. Move the unit to a known state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  • Should not depend on past runs (the test before could even crash so the cleanup before is not guaranteed to be executed).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3. Query the unit to assert the state is as expected.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4. Command the unit to change its state.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5. Query the unit to assert the state is as expected.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rPr strike="sngStrike"/>
              <a:t>6. Cleanup the unit to a known state.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  • Cleanup is not warranted (the system could crash, or end in the middle of the test).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  • Cleanup would create the impression that the other tests are safe to run after this one and that they don't need to be isolated. But they do.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  • Cleanup will block investigations of the state of the unit after a test has run.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deleteGroupRecursively should tolerate a missing group. This assumes "Technology" is reserved for this test and concurrent runs do not share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47770"/>
            <a:ext cx="5212080" cy="151460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With a real database: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• Minimal input information, expressed in concepts ⇒ no accidental complexity.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• Clear output.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Emergent properties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• Testable code.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• Composable.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• Instantiable.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• Fast.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• Focus on the first problem.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Opens doors for explorable code.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Clear errors provide guidance. See Git errors.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262372"/>
            <a:ext cx="5212080" cy="8300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• Use AssertJ in Java and Kotlin.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• Better than mock, stub, or fake ⇒ lazy-load real database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• Prefer constructor injection - works with dependency injection containers but also manuall (even without annotations).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  • Forces better design in wiriging.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• Use a facade to instantiate the unit.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11 /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280"/>
            <a:ext cx="6705432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2. TDD in the Agentic 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5699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The role of tests and developers when working with AI agents.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12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7315017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3. TDD The Good, the Bad and the Ugly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5699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What works well and where things can go wrong at each stage of the 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13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7924601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3. TDD The Good, the Bad and the Ugly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Things that are exposed as bad practices by TDD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34655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testing implementation details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mocking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testing query and command separately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changing internal state via methods that are not part of the facade (is a white-box testing smell)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tests that are not isolated and depend on the order of execution of other tests (is a white-box testing smell)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14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8534186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4. Beyond TDD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13319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Testing Approaches and Trade-offs: Test-at-end, acceptance testing, BDD, internal testing, mocking libraries and UI testing, including their benefits, costs and potential pitfalls.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15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9143771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4. Beyond TDD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Testign Myths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26273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We have a battery of tests and on mutation we can pinpoint the mutation by just looking at the tests. With what price? In writing tests and in maintaining them?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Test coverage will help. Maybe if 100%, and maybe if we also have 100% branch coverage. That is not practical and rarely achievable. So we need strategic testing. Top down?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16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9753356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5. Complementing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9509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XP, pair programming, trunk-based development, DDD, hexagonal architecture, clean code, and design principles such as DRY, OCP and SRP.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17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0362940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5. Complementing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Things that go well with TDD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39735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800">
                <a:solidFill>
                  <a:srgbClr val="E6E6E6"/>
                </a:solidFill>
                <a:latin typeface="Arial"/>
              </a:defRPr>
            </a:pPr>
            <a:r>
              <a:t>• DDD (Domain Driven Design) &amp; Hexagonal Architecture.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800">
                <a:solidFill>
                  <a:srgbClr val="E6E6E6"/>
                </a:solidFill>
                <a:latin typeface="Arial"/>
              </a:defRPr>
            </a:pPr>
            <a:r>
              <a:t>  • we could use a persistance layer (whatever is faster to run and use)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800">
                <a:solidFill>
                  <a:srgbClr val="E6E6E6"/>
                </a:solidFill>
                <a:latin typeface="Arial"/>
              </a:defRPr>
            </a:pPr>
            <a:r>
              <a:t>    • database: embedded, in memory or a real one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800">
                <a:solidFill>
                  <a:srgbClr val="E6E6E6"/>
                </a:solidFill>
                <a:latin typeface="Arial"/>
              </a:defRPr>
            </a:pPr>
            <a:r>
              <a:t>      • real SQL queries/CRUD also get tested (think that native sql querries)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800">
                <a:solidFill>
                  <a:srgbClr val="E6E6E6"/>
                </a:solidFill>
                <a:latin typeface="Arial"/>
              </a:defRPr>
            </a:pPr>
            <a:r>
              <a:t>    • in memory data structures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800">
                <a:solidFill>
                  <a:srgbClr val="E6E6E6"/>
                </a:solidFill>
                <a:latin typeface="Arial"/>
              </a:defRPr>
            </a:pPr>
            <a:r>
              <a:t>• Clean Code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800">
                <a:solidFill>
                  <a:srgbClr val="E6E6E6"/>
                </a:solidFill>
                <a:latin typeface="Arial"/>
              </a:defRPr>
            </a:pPr>
            <a:r>
              <a:t>• Refactoring of Code Smells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800">
                <a:solidFill>
                  <a:srgbClr val="E6E6E6"/>
                </a:solidFill>
                <a:latin typeface="Arial"/>
              </a:defRPr>
            </a:pPr>
            <a:r>
              <a:t>  • Open Closed Principle. If we break tests then we don't respect the OCP.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800">
                <a:solidFill>
                  <a:srgbClr val="E6E6E6"/>
                </a:solidFill>
                <a:latin typeface="Arial"/>
              </a:defRPr>
            </a:pPr>
            <a:r>
              <a:t>  • A refactor keeps the tests green.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800">
                <a:solidFill>
                  <a:srgbClr val="E6E6E6"/>
                </a:solidFill>
                <a:latin typeface="Arial"/>
              </a:defRPr>
            </a:pPr>
            <a:r>
              <a:t>  • We are free to change the implementation details if the tests are green.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18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0972525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6. Questions, experiences, next sessions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21828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Questions and experiences from your own projects are very welcome, including those situations where tests may have caused more headaches than help.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Topics for future sessions based on real challenges and experiences from our projects.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19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1582110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7.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32369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2"/>
              </a:rPr>
              <a:t>• Search: TDD, Where Did It All Go Wrong?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3"/>
              </a:rPr>
              <a:t>• TDD, Where Did It All Go Wrong (Ian Cooper)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4"/>
              </a:rPr>
              <a:t>• Discussion: Ian Cooper — TDD, Where Did It All Go Wrong?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5"/>
              </a:rPr>
              <a:t>• Kent Beck — Test-Driven Development by Example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6"/>
              </a:rPr>
              <a:t>• Dan North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7"/>
              </a:rPr>
              <a:t>• Martin Fowler — Are Harnesses Worth the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20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TDD Talk</dc:title>
  <dc:subject>TDD presentation exported from tdd5.md</dc:subject>
  <dc:creator>Costin Grigore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